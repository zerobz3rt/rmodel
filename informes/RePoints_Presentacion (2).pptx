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Imágenes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798-4981-8C2C-DE791CBFEA94}"/>
              </c:ext>
            </c:extLst>
          </c:dPt>
          <c:dPt>
            <c:idx val="1"/>
            <c:invertIfNegative val="0"/>
            <c:bubble3D val="0"/>
            <c:spPr>
              <a:solidFill>
                <a:srgbClr val="3E8E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798-4981-8C2C-DE791CBFEA9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Plástico (PET)</c:v>
                </c:pt>
                <c:pt idx="1">
                  <c:v>Vidrio (Glass)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1508</c:v>
                </c:pt>
                <c:pt idx="1">
                  <c:v>1232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798-4981-8C2C-DE791CBFEA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E3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2332B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solidFill>
      <a:srgbClr val="12332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Imágenes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9EF-4FE1-877C-B1CFF20956AF}"/>
              </c:ext>
            </c:extLst>
          </c:dPt>
          <c:dPt>
            <c:idx val="1"/>
            <c:invertIfNegative val="0"/>
            <c:bubble3D val="0"/>
            <c:spPr>
              <a:solidFill>
                <a:srgbClr val="3E8E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9EF-4FE1-877C-B1CFF20956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7332C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Plástico</c:v>
                </c:pt>
                <c:pt idx="1">
                  <c:v>Vidrio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1438</c:v>
                </c:pt>
                <c:pt idx="1">
                  <c:v>1232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9EF-4FE1-877C-B1CFF20956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2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6E5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18F-4167-B97F-A99A79C4E826}"/>
              </c:ext>
            </c:extLst>
          </c:dPt>
          <c:dPt>
            <c:idx val="1"/>
            <c:invertIfNegative val="0"/>
            <c:bubble3D val="0"/>
            <c:spPr>
              <a:solidFill>
                <a:srgbClr val="3E8E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8F-4167-B97F-A99A79C4E826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7332C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Entrenamiento</c:v>
                </c:pt>
                <c:pt idx="1">
                  <c:v>Validación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0.97640000000000005</c:v>
                </c:pt>
                <c:pt idx="1">
                  <c:v>0.96489999999999998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8F-4167-B97F-A99A79C4E8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2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13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17463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E6E52">
              <a:alpha val="45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-1097280" y="4754880"/>
            <a:ext cx="2926080" cy="2926080"/>
          </a:xfrm>
          <a:prstGeom prst="ellipse">
            <a:avLst/>
          </a:prstGeom>
          <a:solidFill>
            <a:srgbClr val="1E6E52">
              <a:alpha val="40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F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— SEDE MANABÍ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77240" cy="777240"/>
          </a:xfrm>
          <a:prstGeom prst="ellipse">
            <a:avLst/>
          </a:prstGeom>
          <a:solidFill>
            <a:srgbClr val="1E6E5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RePoints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7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inteligente de residuos de plástico y vidrio</a:t>
            </a: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7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Raspberry Pi e Inteligencia Artificial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Expertos · Tecnologías de Plataforma · Análisis y Circuitos · Manejo y Desarrollo de Proyectos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Quinto Semestre — Ingeniería en Software · Julio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presentar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02920" cy="502920"/>
          </a:xfrm>
          <a:prstGeom prst="ellipse">
            <a:avLst/>
          </a:prstGeom>
          <a:solidFill>
            <a:srgbClr val="1E6E5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y objetivos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217627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 y alcance de la solución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715768"/>
            <a:ext cx="502920" cy="502920"/>
          </a:xfrm>
          <a:prstGeom prst="ellipse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594360" y="2715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67004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dataset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30175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Origen, calidad, limpieza y balance de clases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557016"/>
            <a:ext cx="502920" cy="502920"/>
          </a:xfrm>
          <a:prstGeom prst="ellipse">
            <a:avLst/>
          </a:prstGeom>
          <a:solidFill>
            <a:srgbClr val="1E6E5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594360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51129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la solución de IA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385876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modelo elegido y justificación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398264"/>
            <a:ext cx="502920" cy="502920"/>
          </a:xfrm>
          <a:prstGeom prst="ellipse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594360" y="4398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35254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 del modelo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470001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Flujo, hiperparámetros y estrategia de validación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325880" y="51937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818120" y="1737360"/>
            <a:ext cx="3840480" cy="4434840"/>
          </a:xfrm>
          <a:prstGeom prst="roundRect">
            <a:avLst>
              <a:gd name="adj" fmla="val 2857"/>
            </a:avLst>
          </a:prstGeom>
          <a:solidFill>
            <a:srgbClr val="1233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809244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2331720"/>
            <a:ext cx="292608" cy="292608"/>
          </a:xfrm>
          <a:prstGeom prst="ellipse">
            <a:avLst/>
          </a:prstGeom>
          <a:solidFill>
            <a:srgbClr val="1E6E5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854964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38160" y="3044952"/>
            <a:ext cx="292608" cy="292608"/>
          </a:xfrm>
          <a:prstGeom prst="ellipse">
            <a:avLst/>
          </a:prstGeom>
          <a:solidFill>
            <a:srgbClr val="1E6E5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8549640" y="29992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38160" y="3758184"/>
            <a:ext cx="292608" cy="292608"/>
          </a:xfrm>
          <a:prstGeom prst="ellipse">
            <a:avLst/>
          </a:prstGeom>
          <a:solidFill>
            <a:srgbClr val="1E6E5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8549640" y="37124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38160" y="4471416"/>
            <a:ext cx="292608" cy="292608"/>
          </a:xfrm>
          <a:prstGeom prst="ellipse">
            <a:avLst/>
          </a:prstGeom>
          <a:solidFill>
            <a:srgbClr val="1E6E5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8549640" y="44256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38160" y="5184648"/>
            <a:ext cx="292608" cy="292608"/>
          </a:xfrm>
          <a:prstGeom prst="ellipse">
            <a:avLst/>
          </a:prstGeom>
          <a:solidFill>
            <a:srgbClr val="1E6E5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5" name="Text 33"/>
          <p:cNvSpPr/>
          <p:nvPr/>
        </p:nvSpPr>
        <p:spPr>
          <a:xfrm>
            <a:off x="8549640" y="51389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Proyecto Integrador · PUCE Manabí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PROBLEMA Y OBJETIVOS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resolvemos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  <a:effectLst>
            <a:outerShdw blurRad="101600" dist="381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6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Situación actual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de residuos de plástico y vidrio en el campus se hace hoy de forma manual, según el criterio de cada persona. Esto genera contaminación cruzada entre materiales reciclables y reduce la eficiencia del reciclaje posterior.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6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 técnico clave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457200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Botellas de plástico PET transparente y de vidrio pueden lucir muy similares ante una cámara (transparencia, brillo, forma), lo que exige un sistema que valide su propia confianza antes de decidir.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1783080"/>
            <a:ext cx="4800600" cy="4297680"/>
          </a:xfrm>
          <a:prstGeom prst="roundRect">
            <a:avLst>
              <a:gd name="adj" fmla="val 2128"/>
            </a:avLst>
          </a:prstGeom>
          <a:solidFill>
            <a:srgbClr val="1233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717804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78040" y="242316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solución de IA capaz de clasificar en tiempo real residuos de plástico y vidrio a partir de una imagen, integrando visión por computador con un sistema experto que valide la confianza de cada predicción.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78040" y="4251960"/>
            <a:ext cx="4206240" cy="0"/>
          </a:xfrm>
          <a:prstGeom prst="line">
            <a:avLst/>
          </a:prstGeom>
          <a:noFill/>
          <a:ln w="12700">
            <a:solidFill>
              <a:srgbClr val="2F5A4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7178040" y="43891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78040" y="470916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binaria: </a:t>
            </a:r>
            <a:r>
              <a:rPr lang="en-US" sz="13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plástico / vidrio / desconocido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</a:t>
            </a:r>
            <a:r>
              <a:rPr lang="en-US" sz="13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RGB de cámara USB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</a:t>
            </a:r>
            <a:r>
              <a:rPr lang="en-US" sz="13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+ confianza + registro en 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Proyecto Integrador · PUCE Manabí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 del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6751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  <a:effectLst>
            <a:outerShdw blurRad="101600" dist="38100" dir="54000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s-EC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51760" y="21031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Waste Classification</a:t>
            </a:r>
            <a:br>
              <a:rPr lang="en-US" sz="1300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s-EC" sz="1400" dirty="0" err="1"/>
              <a:t>Dataset</a:t>
            </a:r>
            <a:r>
              <a:rPr lang="es-EC" sz="1400" dirty="0"/>
              <a:t> utilizado para entrenar el modelo de clasificación.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163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281635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Arkadiy </a:t>
            </a:r>
            <a:r>
              <a:rPr lang="en-US" sz="1300" b="1" dirty="0" err="1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Serezhkin</a:t>
            </a:r>
            <a:endParaRPr lang="en-US" sz="1300" b="1" dirty="0">
              <a:solidFill>
                <a:srgbClr val="1733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EC" sz="1400" dirty="0"/>
              <a:t>Obtenido de la plataforma </a:t>
            </a:r>
            <a:r>
              <a:rPr lang="es-EC" sz="1400" dirty="0" err="1"/>
              <a:t>Kaggle</a:t>
            </a:r>
            <a:r>
              <a:rPr lang="es-EC" sz="1400" dirty="0"/>
              <a:t>, donde se comparten </a:t>
            </a:r>
            <a:r>
              <a:rPr lang="es-EC" sz="1400" dirty="0" err="1"/>
              <a:t>datasets</a:t>
            </a:r>
            <a:r>
              <a:rPr lang="es-EC" sz="1400" dirty="0"/>
              <a:t> para IA.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52958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352958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 — Dominio público (uso académico libre)</a:t>
            </a:r>
          </a:p>
          <a:p>
            <a:r>
              <a:rPr lang="es-EC" sz="1400" dirty="0"/>
              <a:t>Permite usar el </a:t>
            </a:r>
            <a:r>
              <a:rPr lang="es-EC" sz="1400" dirty="0" err="1"/>
              <a:t>dataset</a:t>
            </a:r>
            <a:r>
              <a:rPr lang="es-EC" sz="1400" dirty="0"/>
              <a:t> libremente con fines académicos.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24281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4242816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fin de carrera en UCL, fotos con cámara de 12 MP</a:t>
            </a:r>
            <a:br>
              <a:rPr lang="en-US" sz="13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s-EC" sz="1400" dirty="0"/>
              <a:t>Las imágenes fueron tomadas con una cámara de 12 MP para garantizar buena calidad.</a:t>
            </a:r>
            <a:endParaRPr lang="en-US" sz="1300" b="1" dirty="0"/>
          </a:p>
        </p:txBody>
      </p:sp>
      <p:sp>
        <p:nvSpPr>
          <p:cNvPr id="13" name="Text 11"/>
          <p:cNvSpPr/>
          <p:nvPr/>
        </p:nvSpPr>
        <p:spPr>
          <a:xfrm>
            <a:off x="868680" y="49560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PROCEDENCIA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495604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PET incorpora parte del dataset TrashNet (UCL/Stanford)</a:t>
            </a:r>
            <a:br>
              <a:rPr lang="en-US" sz="1300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s-EC" sz="1400" dirty="0"/>
              <a:t>Las imágenes de PET provienen parcialmente del reconocido </a:t>
            </a:r>
            <a:r>
              <a:rPr lang="es-EC" sz="1400" dirty="0" err="1"/>
              <a:t>dataset</a:t>
            </a:r>
            <a:r>
              <a:rPr lang="es-EC" sz="1400" dirty="0"/>
              <a:t> </a:t>
            </a:r>
            <a:r>
              <a:rPr lang="es-EC" sz="1400" dirty="0" err="1"/>
              <a:t>TrashNet</a:t>
            </a:r>
            <a:r>
              <a:rPr lang="es-EC" sz="1400" dirty="0"/>
              <a:t>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0" y="1828800"/>
            <a:ext cx="4160520" cy="4206240"/>
          </a:xfrm>
          <a:prstGeom prst="roundRect">
            <a:avLst>
              <a:gd name="adj" fmla="val 2198"/>
            </a:avLst>
          </a:prstGeom>
          <a:solidFill>
            <a:srgbClr val="1E6E52"/>
          </a:solidFill>
          <a:ln/>
        </p:spPr>
        <p:txBody>
          <a:bodyPr/>
          <a:lstStyle/>
          <a:p>
            <a:endParaRPr lang="es-EC" dirty="0"/>
          </a:p>
        </p:txBody>
      </p:sp>
      <p:sp>
        <p:nvSpPr>
          <p:cNvPr id="16" name="Text 14"/>
          <p:cNvSpPr/>
          <p:nvPr/>
        </p:nvSpPr>
        <p:spPr>
          <a:xfrm>
            <a:off x="78181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7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TOMAMOS DEL DATASET?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8120" y="24688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7818120" y="3246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 clases originales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18120" y="3794760"/>
            <a:ext cx="3566160" cy="0"/>
          </a:xfrm>
          <a:prstGeom prst="line">
            <a:avLst/>
          </a:prstGeom>
          <a:noFill/>
          <a:ln w="12700">
            <a:solidFill>
              <a:srgbClr val="3E8E7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7818120" y="393192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C" sz="1400" b="1" dirty="0"/>
              <a:t>¿QUÉ TOMAMOS DEL DATASET?</a:t>
            </a:r>
          </a:p>
          <a:p>
            <a:r>
              <a:rPr lang="es-EC" sz="1400" b="1" dirty="0"/>
              <a:t>2 de las 4 clases originales</a:t>
            </a:r>
            <a:endParaRPr lang="es-EC" sz="1400" dirty="0"/>
          </a:p>
          <a:p>
            <a:r>
              <a:rPr lang="es-EC" sz="1400" i="1" dirty="0"/>
              <a:t>Solo utilizamos las categorías necesarias para nuestro proyecto.</a:t>
            </a:r>
            <a:endParaRPr lang="es-EC" sz="1400" dirty="0"/>
          </a:p>
          <a:p>
            <a:r>
              <a:rPr lang="es-EC" sz="1400" dirty="0"/>
              <a:t>✔ </a:t>
            </a:r>
            <a:r>
              <a:rPr lang="es-EC" sz="1400" b="1" dirty="0"/>
              <a:t>Glass (vidrio)</a:t>
            </a:r>
            <a:endParaRPr lang="es-EC" sz="1400" dirty="0"/>
          </a:p>
          <a:p>
            <a:r>
              <a:rPr lang="es-EC" sz="1400" i="1" dirty="0"/>
              <a:t>Objeto que el modelo aprende a identificar.</a:t>
            </a:r>
            <a:endParaRPr lang="es-EC" sz="1400" dirty="0"/>
          </a:p>
          <a:p>
            <a:r>
              <a:rPr lang="es-EC" sz="1400" dirty="0"/>
              <a:t>✔ </a:t>
            </a:r>
            <a:r>
              <a:rPr lang="es-EC" sz="1400" b="1" dirty="0"/>
              <a:t>PET (plástico transparente)</a:t>
            </a:r>
            <a:endParaRPr lang="es-EC" sz="1400" dirty="0"/>
          </a:p>
          <a:p>
            <a:r>
              <a:rPr lang="es-EC" sz="1400" i="1" dirty="0"/>
              <a:t>Segunda categoría utilizada para el entrenamiento.</a:t>
            </a:r>
            <a:endParaRPr lang="es-EC" sz="140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Proyecto Integrador · PUCE Manabí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Composición y distribución de clases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1508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de PLÁSTICO (PET)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botellas transparentes, individuales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77240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de VIDRIO (Glass)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botellas ámbar/verde, individuales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7315200" cy="4114800"/>
          </a:xfrm>
          <a:prstGeom prst="roundRect">
            <a:avLst>
              <a:gd name="adj" fmla="val 2222"/>
            </a:avLst>
          </a:prstGeom>
          <a:solidFill>
            <a:srgbClr val="1233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4617720" y="201168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subset usado: 2740 imágenes  ·  Razón de desbalance: 1.23:1 (leve)</a:t>
            </a:r>
            <a:endParaRPr lang="en-US" sz="13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617720" y="2514600"/>
          <a:ext cx="67665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4617720" y="461772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</a:t>
            </a:r>
            <a:r>
              <a:rPr lang="en-US" sz="13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 (mayoría) y 8 HEIC de iPhone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dominante: </a:t>
            </a:r>
            <a:r>
              <a:rPr lang="en-US" sz="13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512×683 px (1747 imágenes)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promedio: </a:t>
            </a:r>
            <a:r>
              <a:rPr lang="en-US" sz="13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142.8 KB por imagen (5.5 KB – 3.6 MB)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Proyecto Integrador · PUCE Manabí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visual: un riesgo importante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Nitidez y exposición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68880"/>
          <a:ext cx="4846320" cy="1188720"/>
        </p:xfrm>
        <a:graphic>
          <a:graphicData uri="http://schemas.openxmlformats.org/drawingml/2006/table">
            <a:tbl>
              <a:tblPr/>
              <a:tblGrid>
                <a:gridCol w="1615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Borrosas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Brillo 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Plástico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822960" y="38862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vidrio tiene 4× más imágenes borrosas que plástico, principalmente por movimiento de cámara y tomas fuera de foco.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4800600"/>
            <a:ext cx="4846320" cy="0"/>
          </a:xfrm>
          <a:prstGeom prst="line">
            <a:avLst/>
          </a:prstGeom>
          <a:noFill/>
          <a:ln w="12700">
            <a:solidFill>
              <a:srgbClr val="E4E9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6"/>
          <p:cNvSpPr/>
          <p:nvPr/>
        </p:nvSpPr>
        <p:spPr>
          <a:xfrm>
            <a:off x="822960" y="49377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Iluminación: 0% imágenes oscuras y ≤0.57% sobreexpuestas — muy consistente, pero poco representativa del exterior real.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233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1" name="Shape 8"/>
          <p:cNvSpPr/>
          <p:nvPr/>
        </p:nvSpPr>
        <p:spPr>
          <a:xfrm>
            <a:off x="6537960" y="210312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Text 9"/>
          <p:cNvSpPr/>
          <p:nvPr/>
        </p:nvSpPr>
        <p:spPr>
          <a:xfrm>
            <a:off x="65379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269480" y="21488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Riesgo: memorizar el fondo, no el objeto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37960" y="2834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plástico se fotografió siempre sobre el mismo mantel a cuadros y el vidrio siempre sobre el mismo piso de madera, casi todo en toma cenital.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537960" y="384048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genera un riesgo real de </a:t>
            </a: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"shortcut learning"</a:t>
            </a:r>
            <a:r>
              <a:rPr lang="en-US" sz="135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modelo podría asociar fondo → clase, en vez de aprender las propiedades visuales del material. Se aborda en el diseño y en el análisis de errores.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Proyecto Integrador · PUCE Manabí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 y preprocesamiento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724912" cy="406908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  <a:effectLst>
            <a:outerShdw blurRad="76200" dist="25400" dir="54000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749808" y="2148840"/>
            <a:ext cx="594360" cy="594360"/>
          </a:xfrm>
          <a:prstGeom prst="ellipse">
            <a:avLst/>
          </a:prstGeom>
          <a:solidFill>
            <a:srgbClr val="1E6E5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749808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Duplicados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235915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grupos de duplicados exactos (MD5) en la clase plástico — eliminados. 0 casos cruzan clases.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874520"/>
            <a:ext cx="2724912" cy="406908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  <a:effectLst>
            <a:outerShdw blurRad="76200" dist="25400" dir="54000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3611880" y="2148840"/>
            <a:ext cx="594360" cy="594360"/>
          </a:xfrm>
          <a:prstGeom prst="ellipse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361188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93592" y="288036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HEIC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93592" y="3337560"/>
            <a:ext cx="235915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imágenes de vidrio en HEIC (iPhone) no legibles por Pillow — convertidas a JPG, sin perder datos.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2784" y="1874520"/>
            <a:ext cx="2724912" cy="406908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  <a:effectLst>
            <a:outerShdw blurRad="76200" dist="25400" dir="54000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6473952" y="214884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6473952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55664" y="288036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55664" y="3337560"/>
            <a:ext cx="235915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errores evidentes de etiquetado: no hay duplicados que crucen clases y se revisó visualmente.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34856" y="1874520"/>
            <a:ext cx="2724912" cy="406908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  <a:effectLst>
            <a:outerShdw blurRad="76200" dist="25400" dir="54000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9336024" y="2148840"/>
            <a:ext cx="594360" cy="594360"/>
          </a:xfrm>
          <a:prstGeom prst="ellipse">
            <a:avLst/>
          </a:prstGeom>
          <a:solidFill>
            <a:srgbClr val="6B5B95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9336024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17736" y="288036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Redimensionado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17736" y="3337560"/>
            <a:ext cx="235915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Resoluciones heterogéneas → 224×224 px (entrada MobileNetV2) + normalización on-the-fly.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Proyecto Integrador · PUCE Manabí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de clases y división del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limpio final: 2670 imágenes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2423160"/>
          <a:ext cx="45720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44805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Razón final: 1.17:1 → desbalance leve, por debajo del umbral típico (1.5:1–2:1). No requiere SMOTE ni undersampling agresivo.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828800"/>
            <a:ext cx="5715000" cy="4206240"/>
          </a:xfrm>
          <a:prstGeom prst="roundRect">
            <a:avLst>
              <a:gd name="adj" fmla="val 2174"/>
            </a:avLst>
          </a:prstGeom>
          <a:solidFill>
            <a:srgbClr val="1233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9" name="Text 6"/>
          <p:cNvSpPr/>
          <p:nvPr/>
        </p:nvSpPr>
        <p:spPr>
          <a:xfrm>
            <a:off x="621792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F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70 / 15 / 15 (ESTRATIFICADA)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514600"/>
          <a:ext cx="5120640" cy="16383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Plástico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Entrenamiento (70%)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(15%)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(15%)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4251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fija random_state=42 → resultados reproducibles.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17920" y="470916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permite transfer learning sin sobreajustar de inmediato · 15% de validación ajusta hiperparámetros · 15% de prueba queda aislado hasta la evaluación final.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Proyecto Integrador · PUCE Manabí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DISEÑO DE 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 completo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6E7C97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2852928"/>
            <a:ext cx="15453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USB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5478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40280" y="283464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26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68296" y="22860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6E7C97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2368296" y="23957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41448" y="2852928"/>
            <a:ext cx="15453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(Raspberry Pi 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68296" y="35478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59936" y="283464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26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87952" y="22860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E6E5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4187952" y="23957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61104" y="2852928"/>
            <a:ext cx="15453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+ norm.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87952" y="35478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/ Software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79592" y="283464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268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07608" y="22860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E6E5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6007608" y="23957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80760" y="2852928"/>
            <a:ext cx="15453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(TFLite)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07608" y="35478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/ Software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99248" y="283464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26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27264" y="22860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E6E5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7827264" y="23957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900416" y="2852928"/>
            <a:ext cx="15453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P(clase) + confianza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27264" y="35478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/ Software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518904" y="283464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26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46920" y="22860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9646920" y="23957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720072" y="2852928"/>
            <a:ext cx="15453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Experto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confianza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46920" y="35478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20624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E6E52">
              <a:alpha val="12000"/>
            </a:srgbClr>
          </a:solidFill>
          <a:ln w="12700">
            <a:solidFill>
              <a:srgbClr val="1E6E5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731520" y="431596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6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85%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965960" y="4389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la clase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114800" y="420624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2A93B">
              <a:alpha val="12000"/>
            </a:srgbClr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4297680" y="431596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60–84%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532120" y="4389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recaptura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680960" y="420624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B85042">
              <a:alpha val="12000"/>
            </a:srgbClr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7863840" y="431596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60%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098280" y="4389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"desconocido"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54406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web registra cada decisión final para trazabilidad.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8640" y="59436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"modelo que predice" de "sistema experto que decide" permite ajustar el umbral de confianza sin reentrenar el modelo.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Proyecto Integrador · PUCE Manabí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DISEÑO DE 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MobileNetV2?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492240" cy="4297678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se descartó / usó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propia (desde cero)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Necesitaría muchos más datos y tiempo para igualar a un modelo preentrenado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6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 (elegida)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liviana, ideal para dispositivos embebidos sin GPU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Mejoras marginales; V2 tiene más soporte estable en TF Lite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 B0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costo computacional para una ganancia marginal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Pensado para detección multi-objeto; aquí basta clasificación simple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Impulse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Prototipado rápido sin código, pero se prefiere control directo del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783080"/>
            <a:ext cx="4389120" cy="987552"/>
          </a:xfrm>
          <a:prstGeom prst="roundRect">
            <a:avLst>
              <a:gd name="adj" fmla="val 7407"/>
            </a:avLst>
          </a:prstGeom>
          <a:solidFill>
            <a:srgbClr val="1233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3"/>
          <p:cNvSpPr/>
          <p:nvPr/>
        </p:nvSpPr>
        <p:spPr>
          <a:xfrm>
            <a:off x="7406640" y="1956816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4"/>
          <p:cNvSpPr/>
          <p:nvPr/>
        </p:nvSpPr>
        <p:spPr>
          <a:xfrm>
            <a:off x="7406640" y="19568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83880" y="18562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FD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183880" y="216712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~3.4M parámetros vía convoluciones separables — corre en CPU de la Raspberry Pi 5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69480" y="2880360"/>
            <a:ext cx="4389120" cy="987552"/>
          </a:xfrm>
          <a:prstGeom prst="roundRect">
            <a:avLst>
              <a:gd name="adj" fmla="val 7407"/>
            </a:avLst>
          </a:prstGeom>
          <a:solidFill>
            <a:srgbClr val="1233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Shape 8"/>
          <p:cNvSpPr/>
          <p:nvPr/>
        </p:nvSpPr>
        <p:spPr>
          <a:xfrm>
            <a:off x="7406640" y="3054096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Text 9"/>
          <p:cNvSpPr/>
          <p:nvPr/>
        </p:nvSpPr>
        <p:spPr>
          <a:xfrm>
            <a:off x="7406640" y="30540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183880" y="295351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FD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Precisión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183880" y="326440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desde ImageNet ya reconoce bordes, texturas y transparencias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269480" y="3977640"/>
            <a:ext cx="4389120" cy="987552"/>
          </a:xfrm>
          <a:prstGeom prst="roundRect">
            <a:avLst>
              <a:gd name="adj" fmla="val 7407"/>
            </a:avLst>
          </a:prstGeom>
          <a:solidFill>
            <a:srgbClr val="1233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6" name="Shape 13"/>
          <p:cNvSpPr/>
          <p:nvPr/>
        </p:nvSpPr>
        <p:spPr>
          <a:xfrm>
            <a:off x="7406640" y="4151376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7" name="Text 14"/>
          <p:cNvSpPr/>
          <p:nvPr/>
        </p:nvSpPr>
        <p:spPr>
          <a:xfrm>
            <a:off x="7406640" y="41513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183880" y="40507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FD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Inferencia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183880" y="436168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a TensorFlow Lite con cuantización (float16/int8) para tiempo real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69480" y="5074920"/>
            <a:ext cx="4389120" cy="987552"/>
          </a:xfrm>
          <a:prstGeom prst="roundRect">
            <a:avLst>
              <a:gd name="adj" fmla="val 7407"/>
            </a:avLst>
          </a:prstGeom>
          <a:solidFill>
            <a:srgbClr val="1233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1" name="Shape 18"/>
          <p:cNvSpPr/>
          <p:nvPr/>
        </p:nvSpPr>
        <p:spPr>
          <a:xfrm>
            <a:off x="7406640" y="5248656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2" name="Text 19"/>
          <p:cNvSpPr/>
          <p:nvPr/>
        </p:nvSpPr>
        <p:spPr>
          <a:xfrm>
            <a:off x="7406640" y="52486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183880" y="51480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FD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Soporte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8183880" y="545896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primera clase en TensorFlow/Keras y despliegue en Raspberry Pi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Proyecto Integrador · PUCE Manabí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ENTRENAMIENTO DEL MODELO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entrenamiento e hiperparámetros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675120" cy="4297680"/>
        </p:xfrm>
        <a:graphic>
          <a:graphicData uri="http://schemas.openxmlformats.org/drawingml/2006/table">
            <a:tbl>
              <a:tblPr/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Épocas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máx., early stopping (paciencia=5)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 de pérdida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Crossentropy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 (fase 1) → 1e-5 (fase 2), ReduceLROnPlateau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1: base congelada · Fase 2: últimas 30 capas descongeladas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Balanceado (más peso a la clase vidrio)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augmentation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Rotación ±20°, flip horizontal, brillo/contraste ±20%, zoom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783080"/>
            <a:ext cx="4160520" cy="2011680"/>
          </a:xfrm>
          <a:prstGeom prst="roundRect">
            <a:avLst>
              <a:gd name="adj" fmla="val 4545"/>
            </a:avLst>
          </a:prstGeom>
          <a:solidFill>
            <a:srgbClr val="1E6E5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3"/>
          <p:cNvSpPr/>
          <p:nvPr/>
        </p:nvSpPr>
        <p:spPr>
          <a:xfrm>
            <a:off x="777240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7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MobileNetV2 congelada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0" y="2606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entrena solo el clasificador superior (GlobalAveragePooling + Dropout + Dense)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98080" y="3977640"/>
            <a:ext cx="4160520" cy="2011680"/>
          </a:xfrm>
          <a:prstGeom prst="roundRect">
            <a:avLst>
              <a:gd name="adj" fmla="val 4545"/>
            </a:avLst>
          </a:prstGeom>
          <a:solidFill>
            <a:srgbClr val="3E8E7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7"/>
          <p:cNvSpPr/>
          <p:nvPr/>
        </p:nvSpPr>
        <p:spPr>
          <a:xfrm>
            <a:off x="777240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de últimas 30 capas</a:t>
            </a:r>
            <a:endParaRPr lang="en-US" sz="1500" dirty="0"/>
          </a:p>
        </p:txBody>
      </p:sp>
      <p:sp>
        <p:nvSpPr>
          <p:cNvPr id="4" name="Text 9"/>
          <p:cNvSpPr/>
          <p:nvPr/>
        </p:nvSpPr>
        <p:spPr>
          <a:xfrm>
            <a:off x="7772400" y="48006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fino con learning rate reducido (1e-5) para especializar los filtros al dominio del proyecto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Proyecto Integrador · PUCE Manabí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ENTRENAMIENTO DEL MODELO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de validación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9728" cy="749808"/>
          </a:xfrm>
          <a:prstGeom prst="roundRect">
            <a:avLst/>
          </a:prstGeom>
          <a:solidFill>
            <a:srgbClr val="1E6E5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6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83280" y="182880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total de predicciones correctas — referencia general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09728" cy="749808"/>
          </a:xfrm>
          <a:prstGeom prst="roundRect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868680" y="270662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2706624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predicho como una clase, cuánto era correcto (evita contaminar el flujo de reciclaje)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8444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548640" y="3584448"/>
            <a:ext cx="109728" cy="749808"/>
          </a:xfrm>
          <a:prstGeom prst="round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868680" y="358444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3584448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casos reales de una clase, cuántos detectó — clave para la clase minoritaria (vidrio)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548640" y="4462272"/>
            <a:ext cx="109728" cy="749808"/>
          </a:xfrm>
          <a:prstGeom prst="roundRect">
            <a:avLst/>
          </a:prstGeom>
          <a:solidFill>
            <a:srgbClr val="6B5B95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868680" y="4462272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5B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446227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armónica entre precision y recall, resume el balance en una cifra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40096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548640" y="5340096"/>
            <a:ext cx="109728" cy="749808"/>
          </a:xfrm>
          <a:prstGeom prst="round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868680" y="534009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confusión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83280" y="5340096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si los errores se concentran en una dirección (p.ej. vidrio→plástico)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basta con accuracy? El dataset tiene un desbalance leve (1438 vs. 1232) que puede ocultar un desempeño pobre en la clase minoritaria.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Proyecto Integrador · PUCE Manabí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RESULTADOS Y EVALUACIÓN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Entrenamiento: 22 épocas efectivas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final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2423160"/>
          <a:ext cx="46634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4572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final — Entrenamiento: 0.0795  ·  Validación: 0.1042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5029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 en CPU (sin GPU), 854 s en total (~14.2 min): 455.9 s fase 1 + 398.1 s fase 2.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1828800"/>
            <a:ext cx="5623560" cy="4206240"/>
          </a:xfrm>
          <a:prstGeom prst="roundRect">
            <a:avLst>
              <a:gd name="adj" fmla="val 2174"/>
            </a:avLst>
          </a:prstGeom>
          <a:solidFill>
            <a:srgbClr val="1233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7"/>
          <p:cNvSpPr/>
          <p:nvPr/>
        </p:nvSpPr>
        <p:spPr>
          <a:xfrm>
            <a:off x="635508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D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Curvas train vs. validación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55080" y="26060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y loss de entrenamiento y validación se mantienen cercanas durante todo el proceso, sin divergencia marcada — buena señal de que el fine-tuning (fase 2) no introdujo sobreajuste severo.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55080" y="4114800"/>
            <a:ext cx="5029200" cy="0"/>
          </a:xfrm>
          <a:prstGeom prst="line">
            <a:avLst/>
          </a:prstGeom>
          <a:noFill/>
          <a:ln w="12700">
            <a:solidFill>
              <a:srgbClr val="2F5A4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0"/>
          <p:cNvSpPr/>
          <p:nvPr/>
        </p:nvSpPr>
        <p:spPr>
          <a:xfrm>
            <a:off x="6355080" y="42976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BF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inicio del fine-tuning se marca claramente en las gráficas del informe (leve salto de loss que luego se corrige).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Proyecto Integrador · PUCE Manabí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RESULTADOS Y EVALUACIÓN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sobre el conjunto de prueba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1E6E5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7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GLOBAL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97.0%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403 imágenes de prueba, aisladas durante todo el entrenamiento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480560"/>
            <a:ext cx="2743200" cy="0"/>
          </a:xfrm>
          <a:prstGeom prst="line">
            <a:avLst/>
          </a:prstGeom>
          <a:noFill/>
          <a:ln w="12700">
            <a:solidFill>
              <a:srgbClr val="3E8E7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139.7 ms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5166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de inferencia por imagen en CPU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828800"/>
          <a:ext cx="7498080" cy="164592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Plástico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Ponderado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4EF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1605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F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</a:t>
            </a:r>
            <a:endParaRPr lang="en-US" sz="12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4023360"/>
          <a:ext cx="5120640" cy="1463040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plástico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vidrio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plástico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2C8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vidrio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2C8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5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9464040" y="402336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F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186 imágenes reales de vidrio, 12 se confundieron con plástico. De 217 de plástico, 0 se confundieron con vidrio.</a:t>
            </a:r>
            <a:endParaRPr lang="en-US" sz="1150" dirty="0"/>
          </a:p>
        </p:txBody>
      </p:sp>
      <p:sp>
        <p:nvSpPr>
          <p:cNvPr id="11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Proyecto Integrador · PUCE Manabí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RESULTADOS Y EVALUACIÓN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adicionales y análisis de errores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1E6E5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24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aciertos en 24 imágenes nuevas de prueba (100%)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2834640" cy="0"/>
          </a:xfrm>
          <a:prstGeom prst="line">
            <a:avLst/>
          </a:prstGeom>
          <a:noFill/>
          <a:ln w="12700">
            <a:solidFill>
              <a:srgbClr val="3E8E7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Confianzas típicas de 91% a 100% en los aciertos mostrados en el informe.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1828800"/>
            <a:ext cx="74980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4E9E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4480560" y="2011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y por qué falla el modelo?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514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genera confusión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80560" y="2862072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ambigua (PET transparente vs. vidrio claro) y fondos/encuadres que se apartan del patrón dominante del dataset.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3931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ocurre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80560" y="4279392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 con el riesgo anticipado en el diseño: fondo y ángulo poco variados → posible "shortcut learning". Además, la ambigüedad óptica real es un límite físico del problema, no solo del modelo.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Proyecto Integrador · PUCE Manabí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¿Cumplimos el objetivo?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E6E5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SÍ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cumple ampliamente la meta planteada en el diseño (accuracy de prueba ≥90%), alcanzando 97.0% de accuracy y 0.9701 de F1-score ponderado, con 139.7 ms de inferencia — compatible con clasificación en tiempo real en la Raspberry Pi 5.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4846320" cy="0"/>
          </a:xfrm>
          <a:prstGeom prst="line">
            <a:avLst/>
          </a:prstGeom>
          <a:noFill/>
          <a:ln w="12700">
            <a:solidFill>
              <a:srgbClr val="3E8E7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D7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honesta: el dataset de origen tiene fondo, ángulo e iluminación muy poco variados frente al entorno real de despliegue.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7463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6537960" y="2011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2478024"/>
            <a:ext cx="128016" cy="128016"/>
          </a:xfrm>
          <a:prstGeom prst="ellipse">
            <a:avLst/>
          </a:prstGeom>
          <a:solidFill>
            <a:srgbClr val="9FD8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812280" y="23500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propia en la universidad con la misma cámara/Raspberry Pi del proyecto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3273552"/>
            <a:ext cx="128016" cy="128016"/>
          </a:xfrm>
          <a:prstGeom prst="ellipse">
            <a:avLst/>
          </a:prstGeom>
          <a:solidFill>
            <a:srgbClr val="9FD8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812280" y="314553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ejemplos de materiales transparentes ambiguos (PET vs. vidrio claro)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37960" y="4069080"/>
            <a:ext cx="128016" cy="128016"/>
          </a:xfrm>
          <a:prstGeom prst="ellipse">
            <a:avLst/>
          </a:prstGeom>
          <a:solidFill>
            <a:srgbClr val="9FD8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6812280" y="39410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ciclo de fine-tuning con más capas o épocas, vigilando el sobreajuste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4864608"/>
            <a:ext cx="128016" cy="128016"/>
          </a:xfrm>
          <a:prstGeom prst="ellipse">
            <a:avLst/>
          </a:prstGeom>
          <a:solidFill>
            <a:srgbClr val="9FD8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812280" y="47365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.tflite exportado directamente en hardware Raspberry Pi real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Proyecto Integrador · PUCE Manabí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3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17463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-1280160" y="4389120"/>
            <a:ext cx="3657600" cy="3657600"/>
          </a:xfrm>
          <a:prstGeom prst="ellipse">
            <a:avLst/>
          </a:prstGeom>
          <a:solidFill>
            <a:srgbClr val="1E6E52">
              <a:alpha val="45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5212080" y="1737360"/>
            <a:ext cx="914400" cy="914400"/>
          </a:xfrm>
          <a:prstGeom prst="ellipse">
            <a:avLst/>
          </a:prstGeom>
          <a:solidFill>
            <a:srgbClr val="1E6E5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21208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RePoints — Preguntas y respuestas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Manabí · Quinto Semestre — Ingeniería en Software · Julio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2009</Words>
  <Application>Microsoft Office PowerPoint</Application>
  <PresentationFormat>Widescreen</PresentationFormat>
  <Paragraphs>343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FRANK MARCELO MORALES MOREIRA</cp:lastModifiedBy>
  <cp:revision>3</cp:revision>
  <dcterms:created xsi:type="dcterms:W3CDTF">2026-08-06T06:16:20Z</dcterms:created>
  <dcterms:modified xsi:type="dcterms:W3CDTF">2026-08-06T15:22:48Z</dcterms:modified>
</cp:coreProperties>
</file>